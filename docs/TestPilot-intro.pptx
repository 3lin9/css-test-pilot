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A3A8"/>
                </a:solidFill>
                <a:latin typeface="微软雅黑"/>
                <a:ea typeface="微软雅黑"/>
              </a:rPr>
              <a:t>内部技术分享  ·  V0.1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FFFFF"/>
                </a:solidFill>
                <a:latin typeface="微软雅黑"/>
                <a:ea typeface="微软雅黑"/>
              </a:rPr>
              <a:t>TestPilot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>
                <a:solidFill>
                  <a:srgbClr val="C5E8EA"/>
                </a:solidFill>
                <a:latin typeface="微软雅黑"/>
                <a:ea typeface="微软雅黑"/>
              </a:rPr>
              <a:t>AI Native 跨端业务测试基础设施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B8C4D4"/>
                </a:solidFill>
                <a:latin typeface="微软雅黑"/>
                <a:ea typeface="微软雅黑"/>
              </a:rPr>
              <a:t>让 AI 能理解、生成、校验并执行业务测试。
不是又一个 Playwright 封装，而是一套可被人和 Agent 共同使用的测试语言与执行体系。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92040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122B4A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892040"/>
            <a:ext cx="2011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DSL 共用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4892040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122B4A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4892040"/>
            <a:ext cx="2011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Adapter 可插拔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4892040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122B4A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892040"/>
            <a:ext cx="2011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Evidence-first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59" y="4892040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122B4A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59" y="4892040"/>
            <a:ext cx="2011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Git 为真相源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4892040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122B4A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4892040"/>
            <a:ext cx="2011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SDK 统一入口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7A8EA8"/>
                </a:solidFill>
                <a:latin typeface="微软雅黑"/>
                <a:ea typeface="微软雅黑"/>
              </a:rPr>
              <a:t>面向领导与同事  ·  重点讲清：项目结构各层干什么、DSL 是啥、Adapter 是啥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今天要讲清的六件事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尤其要听懂三样：仓库每层干什么、DSL 是什么、Adapter 是什么（配 5 张流程图）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2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91440" cy="1417320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27632"/>
            <a:ext cx="1005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A3A8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627632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微软雅黑"/>
                <a:ea typeface="微软雅黑"/>
              </a:rPr>
              <a:t>定位与边界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084832"/>
            <a:ext cx="3931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工具 vs 业务测试项目；我们管什么、不管什么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91440" cy="1417320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627632"/>
            <a:ext cx="1005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A3A8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627632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微软雅黑"/>
                <a:ea typeface="微软雅黑"/>
              </a:rPr>
              <a:t>DSL 是什么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084832"/>
            <a:ext cx="3931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人和 AI 共用的测试说明书（YAML），不是业务代码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97180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971800"/>
            <a:ext cx="91440" cy="1417320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227832"/>
            <a:ext cx="1005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A3A8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227832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微软雅黑"/>
                <a:ea typeface="微软雅黑"/>
              </a:rPr>
              <a:t>Adapter 是什么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685032"/>
            <a:ext cx="3931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把说明书翻译成「真的去点页面」的驱动插件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97180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971800"/>
            <a:ext cx="91440" cy="1417320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227832"/>
            <a:ext cx="1005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A3A8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227832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微软雅黑"/>
                <a:ea typeface="微软雅黑"/>
              </a:rPr>
              <a:t>五张流程图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685032"/>
            <a:ext cx="3931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端到端 / 单次 Run 判断 / AI 闭环 / init / 扩端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57200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572000"/>
            <a:ext cx="91440" cy="1417320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828032"/>
            <a:ext cx="1005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A3A8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828032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微软雅黑"/>
                <a:ea typeface="微软雅黑"/>
              </a:rPr>
              <a:t>项目结构与优点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285232"/>
            <a:ext cx="3931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apps、packages 每层功能；跟不跟趋势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57200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4572000"/>
            <a:ext cx="91440" cy="1417320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4828032"/>
            <a:ext cx="1005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A3A8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828032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微软雅黑"/>
                <a:ea typeface="微软雅黑"/>
              </a:rPr>
              <a:t>如何延展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5285232"/>
            <a:ext cx="3931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App / iPad：加 Adapter，不重写 DSL 和控制台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业务测试今天真正卡住的地方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不是缺工具，是缺「人和 AI 都能用」的统一测试基础设施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3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417320"/>
            <a:ext cx="27889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417320"/>
            <a:ext cx="278892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691640"/>
            <a:ext cx="24688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微软雅黑"/>
                <a:ea typeface="微软雅黑"/>
              </a:rPr>
              <a:t>端各一套脚本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834640"/>
            <a:ext cx="2468880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小程序一套、Web 一套、接口再一套。跨端业务（下单→后台核验）要拼两套框架，变量与证据对不齐。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417320"/>
            <a:ext cx="27889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417320"/>
            <a:ext cx="278892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1691640"/>
            <a:ext cx="24688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微软雅黑"/>
                <a:ea typeface="微软雅黑"/>
              </a:rPr>
              <a:t>AI 直接去点页面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2834640"/>
            <a:ext cx="2468880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Agent 若直连 Playwright / 开发者工具，用例不可复现、不可校验、不可进 CI，也难做团队资产。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417320"/>
            <a:ext cx="27889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417320"/>
            <a:ext cx="2788920" cy="91440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1691640"/>
            <a:ext cx="24688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微软雅黑"/>
                <a:ea typeface="微软雅黑"/>
              </a:rPr>
              <a:t>用例散落、难共享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834640"/>
            <a:ext cx="2468880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脚本在个人仓库或 IDE 里；没有统一语言、没有元数据索引、Git 与执行结果脱节。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417320"/>
            <a:ext cx="27889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1417320"/>
            <a:ext cx="2788920" cy="91440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54312" y="1691640"/>
            <a:ext cx="24688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微软雅黑"/>
                <a:ea typeface="微软雅黑"/>
              </a:rPr>
              <a:t>业务能力被写进工具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2834640"/>
            <a:ext cx="2468880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Login / 下单 / 支付做成「平台 Action」后，工具绑死业务，换项目就要改核心。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一句话定位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TestPilot 定义「怎么描述 / 校验 / 执行」；业务项目定义「测什么、怎么算通过」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4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106984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TestPilot 是工具，不是业务测试项目。
它让 AI 与工程师用同一套 DSL 写用例，用同一套引擎跨端执行，并把证据与结果沉淀为可审计资产。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TestPilot 负责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11880"/>
            <a:ext cx="4937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微软雅黑"/>
                <a:ea typeface="微软雅黑"/>
              </a:rPr>
              <a:t>▸  测试描述语言（DSL）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40"/>
            <a:ext cx="4937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微软雅黑"/>
                <a:ea typeface="微软雅黑"/>
              </a:rPr>
              <a:t>▸  校验（schema / locator / adapter 能力）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4937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微软雅黑"/>
                <a:ea typeface="微软雅黑"/>
              </a:rPr>
              <a:t>▸  执行引擎与 Adapter 抽象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09160"/>
            <a:ext cx="4937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微软雅黑"/>
                <a:ea typeface="微软雅黑"/>
              </a:rPr>
              <a:t>▸  取证与报告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74920"/>
            <a:ext cx="4937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微软雅黑"/>
                <a:ea typeface="微软雅黑"/>
              </a:rPr>
              <a:t>▸  AI Skill（怎么用这套工具）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40680"/>
            <a:ext cx="4937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微软雅黑"/>
                <a:ea typeface="微软雅黑"/>
              </a:rPr>
              <a:t>▸  控制面：CLI / Server / Web / 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01752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20040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227"/>
                </a:solidFill>
                <a:latin typeface="微软雅黑"/>
                <a:ea typeface="微软雅黑"/>
              </a:rPr>
              <a:t>业务项目负责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611880"/>
            <a:ext cx="4937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微软雅黑"/>
                <a:ea typeface="微软雅黑"/>
              </a:rPr>
              <a:t>▸  测哪条业务、哪个页面、什么预期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77640"/>
            <a:ext cx="4937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微软雅黑"/>
                <a:ea typeface="微软雅黑"/>
              </a:rPr>
              <a:t>▸  Case 文件：tests/e2e/cases/*.yaml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343400"/>
            <a:ext cx="4937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微软雅黑"/>
                <a:ea typeface="微软雅黑"/>
              </a:rPr>
              <a:t>▸  testpilot.yaml 与环境变量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709160"/>
            <a:ext cx="4937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微软雅黑"/>
                <a:ea typeface="微软雅黑"/>
              </a:rPr>
              <a:t>▸  账号、域名、Workspace 组合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074920"/>
            <a:ext cx="4937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微软雅黑"/>
                <a:ea typeface="微软雅黑"/>
              </a:rPr>
              <a:t>▸  Git 作为 Case 的 Source of Truth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440680"/>
            <a:ext cx="4937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微软雅黑"/>
                <a:ea typeface="微软雅黑"/>
              </a:rPr>
              <a:t>▸  CI 里 validate / sync / run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五条设计原则（后面所有结构都服从这五条）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原则比框架重要：换 Playwright 版本可以，换原则会伤整条链路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5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98448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499616"/>
            <a:ext cx="777240" cy="50292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99616"/>
            <a:ext cx="7772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408176"/>
            <a:ext cx="9784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工具 ≠ 业务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1755648"/>
            <a:ext cx="9784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仓库里不放 login/order/payment 用例。业务 Case 永远在业务项目。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304288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505456"/>
            <a:ext cx="777240" cy="50292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505456"/>
            <a:ext cx="7772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414016"/>
            <a:ext cx="9784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Skill 不是执行器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761488"/>
            <a:ext cx="9784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AI 禁止直连 Playwright / WeChatIDE。固定：Skill → CLI/SDK → DSL → Engine → Adapter。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310128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3511296"/>
            <a:ext cx="777240" cy="50292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11296"/>
            <a:ext cx="7772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419856"/>
            <a:ext cx="9784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Case 是项目资产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767328"/>
            <a:ext cx="9784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YAML 进 Git。Server 只存索引与 Run，不是第二套 Git。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315968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517136"/>
            <a:ext cx="777240" cy="50292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17136"/>
            <a:ext cx="7772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425696"/>
            <a:ext cx="9784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共用模型，不共用驱动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773168"/>
            <a:ext cx="9784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Web / 小程序 / API 共享 DSL、Context、Event、Artifact、Report；执行实现各自 Adapter。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321808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5522976"/>
            <a:ext cx="777240" cy="50292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522976"/>
            <a:ext cx="7772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5431536"/>
            <a:ext cx="9784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Evidence-first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779008"/>
            <a:ext cx="9784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AI 不能凭空编定位器。需求 → 代码/页面 → 证据 → 步骤 → Case。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核心架构：一条链，两端分叉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人和 AI 走同一入口；真正碰页面的只有 Adapter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6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737360" cy="13258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81328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AI / 同事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011680"/>
            <a:ext cx="159105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9ED4D6"/>
                </a:solidFill>
                <a:latin typeface="微软雅黑"/>
                <a:ea typeface="微软雅黑"/>
              </a:rPr>
              <a:t>Cursor · Claude · 控制台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1737360"/>
            <a:ext cx="25603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AA3A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1371600"/>
            <a:ext cx="1737360" cy="13258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1481328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2011680"/>
            <a:ext cx="159105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9ED4D6"/>
                </a:solidFill>
                <a:latin typeface="微软雅黑"/>
                <a:ea typeface="微软雅黑"/>
              </a:rPr>
              <a:t>规范：怎么写 Case、禁直连驱动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1737360"/>
            <a:ext cx="25603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AA3A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1371600"/>
            <a:ext cx="1737360" cy="13258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481328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CLI / SDK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2011680"/>
            <a:ext cx="159105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9ED4D6"/>
                </a:solidFill>
                <a:latin typeface="微软雅黑"/>
                <a:ea typeface="微软雅黑"/>
              </a:rPr>
              <a:t>csspilot · @testpilot/sdk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79" y="1737360"/>
            <a:ext cx="25603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AA3A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1371600"/>
            <a:ext cx="1737360" cy="13258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1481328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DSL +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2011680"/>
            <a:ext cx="159105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9ED4D6"/>
                </a:solidFill>
                <a:latin typeface="微软雅黑"/>
                <a:ea typeface="微软雅黑"/>
              </a:rPr>
              <a:t>YAML 用例 · 调度 · 上下文 · 事件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971800"/>
            <a:ext cx="112471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1089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Adapter Resolver：按步骤 target 选执行器（同一条 Case 可切换端）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56616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E8F4F5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7033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A3A8"/>
                </a:solidFill>
                <a:latin typeface="微软雅黑"/>
                <a:ea typeface="微软雅黑"/>
              </a:rPr>
              <a:t>target: web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11480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A"/>
                </a:solidFill>
                <a:latin typeface="微软雅黑"/>
                <a:ea typeface="微软雅黑"/>
              </a:rPr>
              <a:t>Playwright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663440"/>
            <a:ext cx="31089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浏览器 / 后台
实现 TestAdapter 接口即可接入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60" y="356616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E8F4F5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7033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A3A8"/>
                </a:solidFill>
                <a:latin typeface="微软雅黑"/>
                <a:ea typeface="微软雅黑"/>
              </a:rPr>
              <a:t>target: miniapp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11480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A"/>
                </a:solidFill>
                <a:latin typeface="微软雅黑"/>
                <a:ea typeface="微软雅黑"/>
              </a:rPr>
              <a:t>WeChatIDE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663440"/>
            <a:ext cx="31089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微信开发者工具
实现 TestAdapter 接口即可接入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80" y="356616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E8F4F5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37033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A3A8"/>
                </a:solidFill>
                <a:latin typeface="微软雅黑"/>
                <a:ea typeface="微软雅黑"/>
              </a:rPr>
              <a:t>target: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411480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A"/>
                </a:solidFill>
                <a:latin typeface="微软雅黑"/>
                <a:ea typeface="微软雅黑"/>
              </a:rPr>
              <a:t>HTTP Adapter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663440"/>
            <a:ext cx="31089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接口断言与抽取
实现 TestAdapter 接口即可接入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先记住三个词：DSL、引擎、Adapter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类比：菜谱 / 后厨流程 / 具体灶具。换灶具不必重写菜谱。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7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3749039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3749039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371600"/>
            <a:ext cx="3749039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DSL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755648"/>
            <a:ext cx="37490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1AA3A8"/>
                </a:solidFill>
                <a:latin typeface="微软雅黑"/>
                <a:ea typeface="微软雅黑"/>
              </a:rPr>
              <a:t>测试说明书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3383280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A"/>
                </a:solidFill>
                <a:latin typeface="微软雅黑"/>
                <a:ea typeface="微软雅黑"/>
              </a:rPr>
              <a:t>用 YAML 写：在哪个端、点什么、期望看到什么。人和 AI 都只写这一层。文件在业务项目 tests/e2e/cases/。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25880"/>
            <a:ext cx="3749039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25880"/>
            <a:ext cx="3749039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371600"/>
            <a:ext cx="3749039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Execution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755648"/>
            <a:ext cx="37490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1AA3A8"/>
                </a:solidFill>
                <a:latin typeface="微软雅黑"/>
                <a:ea typeface="微软雅黑"/>
              </a:rPr>
              <a:t>执行调度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331720"/>
            <a:ext cx="3383280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A"/>
                </a:solidFill>
                <a:latin typeface="微软雅黑"/>
                <a:ea typeface="微软雅黑"/>
              </a:rPr>
              <a:t>按步骤读说明书：校验、解析 ${变量}、开会话、失败即停、记事件和产物。不关心按钮在浏览器还是小程序里。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325880"/>
            <a:ext cx="3749039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325880"/>
            <a:ext cx="3749039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371600"/>
            <a:ext cx="3749039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Adapter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755648"/>
            <a:ext cx="37490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1AA3A8"/>
                </a:solidFill>
                <a:latin typeface="微软雅黑"/>
                <a:ea typeface="微软雅黑"/>
              </a:rPr>
              <a:t>端上的手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331720"/>
            <a:ext cx="3383280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A"/>
                </a:solidFill>
                <a:latin typeface="微软雅黑"/>
                <a:ea typeface="微软雅黑"/>
              </a:rPr>
              <a:t>把「click .submit-btn」翻译成 Playwright 点击、或微信开发者工具点击、或以后的 Appium 点击。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166360"/>
            <a:ext cx="11430000" cy="10972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349240"/>
            <a:ext cx="110642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同事写/审的是 DSL。平台组维护引擎和 Adapter。AI 被规定：只能生成 DSL，禁止直接操作 Playwright / 微信开发者工具。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流程图 ①　从一条需求到一份报告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四条泳道：谁在做 → 用什么工具 → 落到哪个端 → 产出什么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8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1371600" cy="10515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34440"/>
            <a:ext cx="137160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人 /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234440"/>
            <a:ext cx="99669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2514600"/>
            <a:ext cx="1371600" cy="10515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514600"/>
            <a:ext cx="137160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工具链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2514600"/>
            <a:ext cx="99669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3794760"/>
            <a:ext cx="1371600" cy="10515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794760"/>
            <a:ext cx="137160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端（驱动）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3794760"/>
            <a:ext cx="99669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" y="5074920"/>
            <a:ext cx="1371600" cy="10515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074920"/>
            <a:ext cx="137160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5074920"/>
            <a:ext cx="99669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965960" y="1399032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20824" y="1399032"/>
            <a:ext cx="1993392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需求 / 测试点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1399032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6864" y="1399032"/>
            <a:ext cx="1993392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读 Skill 规范
（怎么写、先取证）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040" y="1399032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32904" y="1399032"/>
            <a:ext cx="1993392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写 Case YAML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1399032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38944" y="1399032"/>
            <a:ext cx="1993392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人工评审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160520" y="1682496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6766560" y="1682496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9372600" y="1682496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965960" y="2679192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E8F4F5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679192"/>
            <a:ext cx="1993392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0B1F3A"/>
                </a:solidFill>
                <a:latin typeface="微软雅黑"/>
                <a:ea typeface="微软雅黑"/>
              </a:rPr>
              <a:t>csspilot validate
语法 / 定位 / 变量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2679192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E8F4F5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2679192"/>
            <a:ext cx="1993392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0B1F3A"/>
                </a:solidFill>
                <a:latin typeface="微软雅黑"/>
                <a:ea typeface="微软雅黑"/>
              </a:rPr>
              <a:t>csspilot run
（经 SDK）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78040" y="2679192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E8F4F5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32904" y="2679192"/>
            <a:ext cx="1993392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0B1F3A"/>
                </a:solidFill>
                <a:latin typeface="微软雅黑"/>
                <a:ea typeface="微软雅黑"/>
              </a:rPr>
              <a:t>Execution Engine
解析变量 · 开会话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84080" y="2679192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E8F4F5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38944" y="2679192"/>
            <a:ext cx="1993392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0B1F3A"/>
                </a:solidFill>
                <a:latin typeface="微软雅黑"/>
                <a:ea typeface="微软雅黑"/>
              </a:rPr>
              <a:t>Adapter Resolver
按 target 选驱动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4160520" y="2962656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6766560" y="2962656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9372600" y="2962656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965960" y="3959352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20824" y="3959352"/>
            <a:ext cx="1993392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Playwright
target: web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0" y="3959352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26864" y="3959352"/>
            <a:ext cx="1993392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WeChatIDE
target: miniapp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78040" y="3959352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32904" y="3959352"/>
            <a:ext cx="1993392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HTTP
target: api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84080" y="3959352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38944" y="3959352"/>
            <a:ext cx="1993392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5B677A"/>
                </a:solidFill>
                <a:latin typeface="微软雅黑"/>
                <a:ea typeface="微软雅黑"/>
              </a:rPr>
              <a:t>（未来）App / iPad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965960" y="5239512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20824" y="5239512"/>
            <a:ext cx="1993392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Evidence
截图 / 日志 / Trace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0" y="5239512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26864" y="5239512"/>
            <a:ext cx="1993392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Report
JSON + HTML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78040" y="5239512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5239512"/>
            <a:ext cx="1993392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控制台 / CI
团队可见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784080" y="5239512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38944" y="5239512"/>
            <a:ext cx="1993392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失败归因 → 修用例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4160520" y="5522976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ight Arrow 60"/>
          <p:cNvSpPr/>
          <p:nvPr/>
        </p:nvSpPr>
        <p:spPr>
          <a:xfrm>
            <a:off x="6766560" y="5522976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ight Arrow 61"/>
          <p:cNvSpPr/>
          <p:nvPr/>
        </p:nvSpPr>
        <p:spPr>
          <a:xfrm>
            <a:off x="9372600" y="5522976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own Arrow 62"/>
          <p:cNvSpPr/>
          <p:nvPr/>
        </p:nvSpPr>
        <p:spPr>
          <a:xfrm>
            <a:off x="11384280" y="2148840"/>
            <a:ext cx="164592" cy="256032"/>
          </a:xfrm>
          <a:prstGeom prst="down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own Arrow 63"/>
          <p:cNvSpPr/>
          <p:nvPr/>
        </p:nvSpPr>
        <p:spPr>
          <a:xfrm>
            <a:off x="11384280" y="3429000"/>
            <a:ext cx="164592" cy="256032"/>
          </a:xfrm>
          <a:prstGeom prst="down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own Arrow 64"/>
          <p:cNvSpPr/>
          <p:nvPr/>
        </p:nvSpPr>
        <p:spPr>
          <a:xfrm>
            <a:off x="11384280" y="4709160"/>
            <a:ext cx="164592" cy="256032"/>
          </a:xfrm>
          <a:prstGeom prst="down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一次运行实际发生了什么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CLI 与 Server 都不直连引擎细节，一律走 SDK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9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18288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60020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60020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1645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读取 tests/e2e/cases
解析 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2" y="228600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1417320"/>
            <a:ext cx="18288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71800" y="160020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160020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219456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2606040"/>
            <a:ext cx="1645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schema / action
locator / 变量 / 端能力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2" y="228600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417320"/>
            <a:ext cx="18288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37760" y="160020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160020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19456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606040"/>
            <a:ext cx="1645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逐步执行
维护 Context 与会话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228600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39" y="1417320"/>
            <a:ext cx="18288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903719" y="160020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19" y="160020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79" y="219456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Adapter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79" y="2606040"/>
            <a:ext cx="1645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把原语翻译成
真实点击 / 请求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82711" y="228600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1417320"/>
            <a:ext cx="18288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869680" y="160020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0" y="160020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19456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606040"/>
            <a:ext cx="1645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截图 · 日志
video / trace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48672" y="228600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95560" y="1417320"/>
            <a:ext cx="18288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835640" y="160020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35640" y="160020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219456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Report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2606040"/>
            <a:ext cx="1645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JSON + HTML
Step 级结果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4114800"/>
            <a:ext cx="114300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42519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微软雅黑"/>
                <a:ea typeface="微软雅黑"/>
              </a:rPr>
              <a:t>关键约束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4709160"/>
            <a:ext cx="2697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A3A8"/>
                </a:solidFill>
                <a:latin typeface="微软雅黑"/>
                <a:ea typeface="微软雅黑"/>
              </a:rPr>
              <a:t>Context 跨端传值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5074920"/>
            <a:ext cx="2697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extract 得到的 orderId 可在后续 web/api 步骤用 ${orderId}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9000" y="4709160"/>
            <a:ext cx="2697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A3A8"/>
                </a:solidFill>
                <a:latin typeface="微软雅黑"/>
                <a:ea typeface="微软雅黑"/>
              </a:rPr>
              <a:t>失败即停后续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29000" y="5074920"/>
            <a:ext cx="2697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未执行步骤标记 skipped；取消信号可中止剩余用例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4709160"/>
            <a:ext cx="2697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A3A8"/>
                </a:solidFill>
                <a:latin typeface="微软雅黑"/>
                <a:ea typeface="微软雅黑"/>
              </a:rPr>
              <a:t>事件可观测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5074920"/>
            <a:ext cx="2697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NDJSON 事件流：Web / CLI 都能看 Step 进度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8280" y="4709160"/>
            <a:ext cx="2697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A3A8"/>
                </a:solidFill>
                <a:latin typeface="微软雅黑"/>
                <a:ea typeface="微软雅黑"/>
              </a:rPr>
              <a:t>产物不进库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5074920"/>
            <a:ext cx="2697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截图/视频留在业务项目 .testpilot/artifacts/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流程图 ②　单次 Run 的执行判断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校验不过就不执行；某步失败即停，后续步骤记为 skipped，但证据一定留下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10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17373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" y="1325880"/>
            <a:ext cx="162763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加载 Case
YAML → 对象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40280" y="1563624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06040" y="1325880"/>
            <a:ext cx="17373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60904" y="1325880"/>
            <a:ext cx="162763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Validate
schema / locator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434840" y="1563624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4800600" y="1170432"/>
            <a:ext cx="1828800" cy="960120"/>
          </a:xfrm>
          <a:prstGeom prst="diamond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1170432"/>
            <a:ext cx="182880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校验通过?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720840" y="1563624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097280"/>
            <a:ext cx="6400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C9A227"/>
                </a:solidFill>
                <a:latin typeface="微软雅黑"/>
                <a:ea typeface="微软雅黑"/>
              </a:rPr>
              <a:t>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1325880"/>
            <a:ext cx="2103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4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41464" y="1325880"/>
            <a:ext cx="199339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C04B3A"/>
                </a:solidFill>
                <a:latin typeface="微软雅黑"/>
                <a:ea typeface="微软雅黑"/>
              </a:rPr>
              <a:t>报错并退出
exit code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325880"/>
            <a:ext cx="24688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/>
                <a:ea typeface="微软雅黑"/>
              </a:rPr>
              <a:t>validate 在 CI 里也单独跑，
坏用例进不了主干。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632704" y="2194560"/>
            <a:ext cx="164592" cy="256032"/>
          </a:xfrm>
          <a:prstGeom prst="down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2212848"/>
            <a:ext cx="6400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1AA3A8"/>
                </a:solidFill>
                <a:latin typeface="微软雅黑"/>
                <a:ea typeface="微软雅黑"/>
              </a:rPr>
              <a:t>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06040" y="2542032"/>
            <a:ext cx="2194560" cy="640080"/>
          </a:xfrm>
          <a:prstGeom prst="roundRect">
            <a:avLst>
              <a:gd name="adj" fmla="val 8000"/>
            </a:avLst>
          </a:prstGeom>
          <a:solidFill>
            <a:srgbClr val="E8F4F5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60904" y="2542032"/>
            <a:ext cx="208483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0B1F3A"/>
                </a:solidFill>
                <a:latin typeface="微软雅黑"/>
                <a:ea typeface="微软雅黑"/>
              </a:rPr>
              <a:t>创建 ExecutionContext
变量表 / 运行目录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92040" y="2779776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257800" y="2542032"/>
            <a:ext cx="2194560" cy="640080"/>
          </a:xfrm>
          <a:prstGeom prst="roundRect">
            <a:avLst>
              <a:gd name="adj" fmla="val 8000"/>
            </a:avLst>
          </a:prstGeom>
          <a:solidFill>
            <a:srgbClr val="E8F4F5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12664" y="2542032"/>
            <a:ext cx="208483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0B1F3A"/>
                </a:solidFill>
                <a:latin typeface="微软雅黑"/>
                <a:ea typeface="微软雅黑"/>
              </a:rPr>
              <a:t>按 target 取会话
Adapter Resolver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543800" y="2779776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909560" y="2542032"/>
            <a:ext cx="2194560" cy="6400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4" y="2542032"/>
            <a:ext cx="208483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执行一个 Step
解析 ${变量} 后下发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8924544" y="3246120"/>
            <a:ext cx="164592" cy="256032"/>
          </a:xfrm>
          <a:prstGeom prst="down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8092440" y="3611880"/>
            <a:ext cx="1828800" cy="960120"/>
          </a:xfrm>
          <a:prstGeom prst="diamond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3611880"/>
            <a:ext cx="182880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该步成功?</a:t>
            </a:r>
          </a:p>
        </p:txBody>
      </p:sp>
      <p:sp>
        <p:nvSpPr>
          <p:cNvPr id="36" name="Left Arrow 35"/>
          <p:cNvSpPr/>
          <p:nvPr/>
        </p:nvSpPr>
        <p:spPr>
          <a:xfrm>
            <a:off x="7635240" y="4014216"/>
            <a:ext cx="274320" cy="164592"/>
          </a:xfrm>
          <a:prstGeom prst="lef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800" y="3401568"/>
            <a:ext cx="6400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C9A227"/>
                </a:solidFill>
                <a:latin typeface="微软雅黑"/>
                <a:ea typeface="微软雅黑"/>
              </a:rPr>
              <a:t>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0" y="3767328"/>
            <a:ext cx="2651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4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01184" y="3767328"/>
            <a:ext cx="254203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C04B3A"/>
                </a:solidFill>
                <a:latin typeface="微软雅黑"/>
                <a:ea typeface="微软雅黑"/>
              </a:rPr>
              <a:t>截图取证 + 记录错误
该步 failed</a:t>
            </a:r>
          </a:p>
        </p:txBody>
      </p:sp>
      <p:sp>
        <p:nvSpPr>
          <p:cNvPr id="40" name="Left Arrow 39"/>
          <p:cNvSpPr/>
          <p:nvPr/>
        </p:nvSpPr>
        <p:spPr>
          <a:xfrm>
            <a:off x="4480560" y="4014216"/>
            <a:ext cx="274320" cy="164592"/>
          </a:xfrm>
          <a:prstGeom prst="lef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828800" y="3767328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83664" y="3767328"/>
            <a:ext cx="245059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剩余 Step → skipped
Case 判为 failed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8924544" y="4617720"/>
            <a:ext cx="164592" cy="256032"/>
          </a:xfrm>
          <a:prstGeom prst="down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0" y="4636008"/>
            <a:ext cx="6400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1AA3A8"/>
                </a:solidFill>
                <a:latin typeface="微软雅黑"/>
                <a:ea typeface="微软雅黑"/>
              </a:rPr>
              <a:t>是</a:t>
            </a:r>
          </a:p>
        </p:txBody>
      </p:sp>
      <p:sp>
        <p:nvSpPr>
          <p:cNvPr id="45" name="Diamond 44"/>
          <p:cNvSpPr/>
          <p:nvPr/>
        </p:nvSpPr>
        <p:spPr>
          <a:xfrm>
            <a:off x="8092440" y="5029200"/>
            <a:ext cx="1828800" cy="960120"/>
          </a:xfrm>
          <a:prstGeom prst="diamond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92440" y="5029200"/>
            <a:ext cx="182880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还有下一步?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40" y="5166360"/>
            <a:ext cx="182880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1AA3A8"/>
                </a:solidFill>
                <a:latin typeface="微软雅黑"/>
                <a:ea typeface="微软雅黑"/>
              </a:rPr>
              <a:t>是 → 回到「执行一个 Step」
（循环）</a:t>
            </a:r>
          </a:p>
        </p:txBody>
      </p:sp>
      <p:sp>
        <p:nvSpPr>
          <p:cNvPr id="48" name="Left Arrow 47"/>
          <p:cNvSpPr/>
          <p:nvPr/>
        </p:nvSpPr>
        <p:spPr>
          <a:xfrm>
            <a:off x="7635240" y="5431536"/>
            <a:ext cx="274320" cy="164592"/>
          </a:xfrm>
          <a:prstGeom prst="lef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79" y="4828032"/>
            <a:ext cx="6400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C9A227"/>
                </a:solidFill>
                <a:latin typeface="微软雅黑"/>
                <a:ea typeface="微软雅黑"/>
              </a:rPr>
              <a:t>否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46320" y="5184648"/>
            <a:ext cx="2651760" cy="640080"/>
          </a:xfrm>
          <a:prstGeom prst="roundRect">
            <a:avLst>
              <a:gd name="adj" fmla="val 8000"/>
            </a:avLst>
          </a:prstGeom>
          <a:solidFill>
            <a:srgbClr val="E8F4F5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01184" y="5184648"/>
            <a:ext cx="254203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汇总 CaseResult
事件流 NDJSON</a:t>
            </a:r>
          </a:p>
        </p:txBody>
      </p:sp>
      <p:sp>
        <p:nvSpPr>
          <p:cNvPr id="52" name="Left Arrow 51"/>
          <p:cNvSpPr/>
          <p:nvPr/>
        </p:nvSpPr>
        <p:spPr>
          <a:xfrm>
            <a:off x="4480560" y="5431536"/>
            <a:ext cx="274320" cy="164592"/>
          </a:xfrm>
          <a:prstGeom prst="lef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28800" y="5184648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83664" y="5184648"/>
            <a:ext cx="245059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Report
JSON + HTML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DSL 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Domain Specific Language：专门用来写「业务测试步骤」的小语言，不是通用编程语言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11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80160"/>
            <a:ext cx="11430000" cy="13258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110642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一句话：DSL 就是一份 YAML 测试说明书。
写的是「在哪个端、做哪个动作、点哪个控件、期望看到什么」，不写 Playwright 代码，也不写小程序 automator 代码。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788920"/>
            <a:ext cx="5715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97180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它是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83280"/>
            <a:ext cx="53035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结构化的 Case 文件（id / name / steps）。代码里用 zod 校验对不对。包：packages/dsl。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88920"/>
            <a:ext cx="5715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97180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它不是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83280"/>
            <a:ext cx="53035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JavaScript 测试脚本，也不是「登录」「下单」这种业务按钮。那些是用原语拼出来的业务 Case。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526280"/>
            <a:ext cx="5715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70916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谁来写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120640"/>
            <a:ext cx="53035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测试同学手写，或 AI 按 Skill 生成。生成后必须 csspilot validate，才能 run。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526280"/>
            <a:ext cx="5715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70916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放在哪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120640"/>
            <a:ext cx="53035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业务项目 tests/e2e/cases/*.yaml。TestPilot 仓库只放示例，不拥有业务用例。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一条 DSL Case 由什么组成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每一步只有三件关键信息：在哪一端（target）· 做什么（action）· 点哪里/期望什么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12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27889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2788920" cy="73152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微软雅黑"/>
                <a:ea typeface="微软雅黑"/>
              </a:rPr>
              <a:t>Case 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251460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id / name / tags
可选 workspace、environment、accountRef
Case 不写死 URL 和密码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325880"/>
            <a:ext cx="27889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325880"/>
            <a:ext cx="2788920" cy="73152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508760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微软雅黑"/>
                <a:ea typeface="微软雅黑"/>
              </a:rPr>
              <a:t>target 执行端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194560"/>
            <a:ext cx="251460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web 浏览器/后台
miniapp 微信小程序
api HTTP 接口
一步一个端，一条 Case 可换端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25880"/>
            <a:ext cx="27889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25880"/>
            <a:ext cx="2788920" cy="73152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508760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微软雅黑"/>
                <a:ea typeface="微软雅黑"/>
              </a:rPr>
              <a:t>action 原语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194560"/>
            <a:ext cx="251460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十个稳定动作：
launch navigate click input select
wait assert extract screenshot request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325880"/>
            <a:ext cx="27889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325880"/>
            <a:ext cx="2788920" cy="73152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508760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微软雅黑"/>
                <a:ea typeface="微软雅黑"/>
              </a:rPr>
              <a:t>定位与数据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194560"/>
            <a:ext cx="251460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locator：css 或 text
extract 写入变量 ${orderId}
后续步骤可跨端引用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754880"/>
            <a:ext cx="114300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892040"/>
            <a:ext cx="11064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C9A227"/>
                </a:solidFill>
                <a:latin typeface="微软雅黑"/>
                <a:ea typeface="微软雅黑"/>
              </a:rPr>
              <a:t>刻意不含的东西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303520"/>
            <a:ext cx="110642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A"/>
                </a:solidFill>
                <a:latin typeface="微软雅黑"/>
                <a:ea typeface="微软雅黑"/>
              </a:rPr>
              <a:t>没有 login / order / payment 这种业务 Action。业务同学用 click+input+assert 组合出「登录」；换一个业务项目，DSL 原语不用改，改的是 YAML 内容。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读一段真实 DSL：跨端黄金路径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同一文件里换 target，变量跨端传递——这就是「共用测试模型」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13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676656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44752"/>
            <a:ext cx="6400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黄金路径示例（小程序下单 → Web 核验）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28800"/>
            <a:ext cx="6400800" cy="4206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微软雅黑"/>
                <a:ea typeface="微软雅黑"/>
              </a:rPr>
              <a:t>id: order-create
name: 用户创建订单
steps:
  - target: miniapp
    action: launch
  - target: miniapp
    action: click
    locator: { css: ".submit-btn" }
  - target: miniapp
    action: extract
    locator: { css: ".order-id" }
    variable: orderId
  - target: web
    action: assert
    locator: { css: ".order-row-${orderId}" }
    expected: "${orderId}"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325880"/>
            <a:ext cx="4480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46304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A3A8"/>
                </a:solidFill>
                <a:latin typeface="微软雅黑"/>
                <a:ea typeface="微软雅黑"/>
              </a:rPr>
              <a:t>执行端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828800"/>
            <a:ext cx="4114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web  ·  miniapp  ·  api
扩端时在此增加枚举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017520"/>
            <a:ext cx="4480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315468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A3A8"/>
                </a:solidFill>
                <a:latin typeface="微软雅黑"/>
                <a:ea typeface="微软雅黑"/>
              </a:rPr>
              <a:t>十个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520440"/>
            <a:ext cx="4114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launch navigate click input
select wait assert extract
screenshot request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4709160"/>
            <a:ext cx="4480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484632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A3A8"/>
                </a:solidFill>
                <a:latin typeface="微软雅黑"/>
                <a:ea typeface="微软雅黑"/>
              </a:rPr>
              <a:t>变量与环境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5212080"/>
            <a:ext cx="4114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${VAR} 模板；environment /
workspace / accountRef 引用环境，不写死 URL 与密码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Adapter 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适配器：引擎只认识统一接口 TestAdapter；每个端自己实现「这句话在我这边怎么执行」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14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80160"/>
            <a:ext cx="11430000" cy="12801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110642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一句话：Adapter 是「翻译官 + 机械手」。
DSL 说 click，Web Adapter 调用 Playwright；小程序 Adapter 调用微信开发者工具；API Adapter 发 HTTP。引擎从不 import 这些工具。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788920"/>
            <a:ext cx="3749039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像电源转换头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03320"/>
            <a:ext cx="338328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A"/>
                </a:solidFill>
                <a:latin typeface="微软雅黑"/>
                <a:ea typeface="微软雅黑"/>
              </a:rPr>
              <a:t>墙上插座规格统一（TestAdapter 方法）。各国插头不同（浏览器 / 小程序 / App）。换插头，不换家里的电器。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788920"/>
            <a:ext cx="3749039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97180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引擎依赖抽象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703320"/>
            <a:ext cx="338328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A"/>
                </a:solidFill>
                <a:latin typeface="微软雅黑"/>
                <a:ea typeface="微软雅黑"/>
              </a:rPr>
              <a:t>packages/adapter-core 定义 launch/click/assert…
execution-engine 只调这个接口。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788920"/>
            <a:ext cx="3749039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97180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谁来实现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703320"/>
            <a:ext cx="338328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A"/>
                </a:solidFill>
                <a:latin typeface="微软雅黑"/>
                <a:ea typeface="微软雅黑"/>
              </a:rPr>
              <a:t>packages/adapter-playwright
packages/adapter-wechatide
packages/adapter-api
以后 adapter-app / adapter-ipad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现在三套 Adapter 各自干什么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同一条 Case 可以交替使用它们；Resolver 按步骤的 target 选中对应会话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15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98448"/>
            <a:ext cx="114300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98448"/>
            <a:ext cx="91440" cy="1463040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63040"/>
            <a:ext cx="6858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adapter-playwright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463040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A3A8"/>
                </a:solidFill>
                <a:latin typeface="微软雅黑"/>
                <a:ea typeface="微软雅黑"/>
              </a:rPr>
              <a:t>target: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92808"/>
            <a:ext cx="108813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A"/>
                </a:solidFill>
                <a:latin typeface="微软雅黑"/>
                <a:ea typeface="微软雅黑"/>
              </a:rPr>
              <a:t>驱动 Chromium 等浏览器。打开后台、点击、输入、断言文本、截图、可选 video/trace。对应业务：管理端、H5、PC Web。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98648"/>
            <a:ext cx="114300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898648"/>
            <a:ext cx="91440" cy="1463040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63240"/>
            <a:ext cx="6858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adapter-wechatide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063240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A3A8"/>
                </a:solidFill>
                <a:latin typeface="微软雅黑"/>
                <a:ea typeface="微软雅黑"/>
              </a:rPr>
              <a:t>target: miniapp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93008"/>
            <a:ext cx="108813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A"/>
                </a:solidFill>
                <a:latin typeface="微软雅黑"/>
                <a:ea typeface="微软雅黑"/>
              </a:rPr>
              <a:t>驱动微信开发者工具（miniprogram-automator）。launch 小程序项目、navigate 页面、css 定位点击。对应业务：微信小程序。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498848"/>
            <a:ext cx="114300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498848"/>
            <a:ext cx="91440" cy="1463040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6858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adapter-api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663440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A3A8"/>
                </a:solidFill>
                <a:latin typeface="微软雅黑"/>
                <a:ea typeface="微软雅黑"/>
              </a:rPr>
              <a:t>target: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93208"/>
            <a:ext cx="108813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A"/>
                </a:solidFill>
                <a:latin typeface="微软雅黑"/>
                <a:ea typeface="微软雅黑"/>
              </a:rPr>
              <a:t>发 HTTP（request），对响应 assert / 按 JSON path extract。可选能力，UI Adapter 不必实现。对应：直接验接口或串数据。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为什么「加一端」不必重写测试体系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引擎只认 TestAdapter；Playwright / 微信工具 / HTTP 都是插件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16  / 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接口契约（packages/adapter-core）：launch / navigate / click / input / select / wait / assert / extract / screenshot / close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8308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微软雅黑"/>
                <a:ea typeface="微软雅黑"/>
              </a:rPr>
              <a:t>引擎看到的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31720"/>
            <a:ext cx="32918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StepTarget + Action
会话、超时、变量已解析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78308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92024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微软雅黑"/>
                <a:ea typeface="微软雅黑"/>
              </a:rPr>
              <a:t>Adapter 翻译的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331720"/>
            <a:ext cx="32918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CSS/text → 真实控件
坐标、WebView、HTTP…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78308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92024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微软雅黑"/>
                <a:ea typeface="微软雅黑"/>
              </a:rPr>
              <a:t>可选能力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31720"/>
            <a:ext cx="32918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startEvidence / video
request / extractResponse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66160"/>
            <a:ext cx="11247120" cy="26517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49039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对领导的含义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06240"/>
            <a:ext cx="1078992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今天已验证：同一条 Case 里 miniapp 与 web 来回切换，订单号跨端传递。
以后加 App / iPad，是「再实现一个 Adapter + 扩展 target 枚举」，而不是再造一套用例语言、再造一套报告、再教 AI 另一套 Skill。
存量 YAML 业务资产可以继续用；新端只补「怎么点到那个按钮」这一层。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控制面：本地可跑，团队可看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增量层不推翻 Core：Web / Server / Agent 全部经 SDK 访问引擎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17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371600"/>
            <a:ext cx="22402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71600"/>
            <a:ext cx="2240280" cy="91440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600200"/>
            <a:ext cx="2011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微软雅黑"/>
                <a:ea typeface="微软雅黑"/>
              </a:rPr>
              <a:t>CLI  csspilot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514600"/>
            <a:ext cx="2011680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init / validate / list / run
report / doctor / update
ci init / sync-metadata
个人与 CI 的主入口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79192" y="1371600"/>
            <a:ext cx="22402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79192" y="1371600"/>
            <a:ext cx="2240280" cy="91440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1600200"/>
            <a:ext cx="2011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微软雅黑"/>
                <a:ea typeface="微软雅黑"/>
              </a:rPr>
              <a:t>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514600"/>
            <a:ext cx="2011680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唯一编程接口
禁止 Server/Agent 直连
execution-engine 或驱动
保证行为一致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38344" y="1371600"/>
            <a:ext cx="22402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38344" y="1371600"/>
            <a:ext cx="2240280" cy="91440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48072" y="1600200"/>
            <a:ext cx="2011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微软雅黑"/>
                <a:ea typeface="微软雅黑"/>
              </a:rPr>
              <a:t>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8072" y="2514600"/>
            <a:ext cx="2011680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Fastify + SQLite
项目 / Case 索引 / Run
Agent Job / Workspace
静态托管 Web 控制台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7496" y="1371600"/>
            <a:ext cx="22402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97496" y="1371600"/>
            <a:ext cx="2240280" cy="91440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07224" y="1600200"/>
            <a:ext cx="2011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微软雅黑"/>
                <a:ea typeface="微软雅黑"/>
              </a:rPr>
              <a:t>Web 控制台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7224" y="2514600"/>
            <a:ext cx="2011680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项目概览 · Case Index
Run 详情（Step + 截图）
同步状态 · 报告下载
给测试/研发/领导看结果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56648" y="1371600"/>
            <a:ext cx="22402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56648" y="1371600"/>
            <a:ext cx="2240280" cy="91440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66376" y="1600200"/>
            <a:ext cx="2011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微软雅黑"/>
                <a:ea typeface="微软雅黑"/>
              </a:rPr>
              <a:t>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66376" y="2514600"/>
            <a:ext cx="2011680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Planner：规划并写 YAML
Analysis：失败归因建议
落盘在业务项目 root
可见性仍走 git push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流程图 ③　AI 参与的闭环：生成 → 校验 → 执行 → 归因 → 修正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AI 只在两处介入：写 Case 和解释失败。中间的执行与判定全部由确定性的引擎完成。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18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1920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" y="1325880"/>
            <a:ext cx="1810512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提出测试需求
（人）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1325880"/>
            <a:ext cx="1920240" cy="777240"/>
          </a:xfrm>
          <a:prstGeom prst="roundRect">
            <a:avLst>
              <a:gd name="adj" fmla="val 8000"/>
            </a:avLst>
          </a:prstGeom>
          <a:solidFill>
            <a:srgbClr val="E8F4F5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9464" y="1325880"/>
            <a:ext cx="1810512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Planner Agent
读代码/页面取证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325880"/>
            <a:ext cx="1920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4" y="1325880"/>
            <a:ext cx="1810512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生成 Case YAML
落在业务项目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1325880"/>
            <a:ext cx="1920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75704" y="1325880"/>
            <a:ext cx="1810512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自动 validate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325880"/>
            <a:ext cx="1920240" cy="7772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78824" y="1325880"/>
            <a:ext cx="1810512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可选：立即 run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148840" y="1627632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4251960" y="1627632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6355080" y="1627632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8458200" y="1627632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10835640" y="1627632"/>
            <a:ext cx="320040" cy="182880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01400" y="1325880"/>
            <a:ext cx="91440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结果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9692640" y="2194560"/>
            <a:ext cx="164592" cy="274320"/>
          </a:xfrm>
          <a:prstGeom prst="down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8823960" y="2606040"/>
            <a:ext cx="1920240" cy="1005840"/>
          </a:xfrm>
          <a:prstGeom prst="diamond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2606040"/>
            <a:ext cx="192024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全部通过?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789920" y="3026664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8480" y="2404872"/>
            <a:ext cx="6400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1AA3A8"/>
                </a:solidFill>
                <a:latin typeface="微软雅黑"/>
                <a:ea typeface="微软雅黑"/>
              </a:rPr>
              <a:t>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155680" y="2788920"/>
            <a:ext cx="8686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10544" y="2788920"/>
            <a:ext cx="75895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0B1F3A"/>
                </a:solidFill>
                <a:latin typeface="微软雅黑"/>
                <a:ea typeface="微软雅黑"/>
              </a:rPr>
              <a:t>合入
PR</a:t>
            </a:r>
          </a:p>
        </p:txBody>
      </p:sp>
      <p:sp>
        <p:nvSpPr>
          <p:cNvPr id="33" name="Left Arrow 32"/>
          <p:cNvSpPr/>
          <p:nvPr/>
        </p:nvSpPr>
        <p:spPr>
          <a:xfrm>
            <a:off x="8366760" y="3026664"/>
            <a:ext cx="274320" cy="164592"/>
          </a:xfrm>
          <a:prstGeom prst="lef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2404872"/>
            <a:ext cx="6400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C9A227"/>
                </a:solidFill>
                <a:latin typeface="微软雅黑"/>
                <a:ea typeface="微软雅黑"/>
              </a:rPr>
              <a:t>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89320" y="2788920"/>
            <a:ext cx="22860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4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44184" y="2788920"/>
            <a:ext cx="217627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C04B3A"/>
                </a:solidFill>
                <a:latin typeface="微软雅黑"/>
                <a:ea typeface="微软雅黑"/>
              </a:rPr>
              <a:t>Evidence：截图 / 日志
Step 级失败点</a:t>
            </a:r>
          </a:p>
        </p:txBody>
      </p:sp>
      <p:sp>
        <p:nvSpPr>
          <p:cNvPr id="37" name="Left Arrow 36"/>
          <p:cNvSpPr/>
          <p:nvPr/>
        </p:nvSpPr>
        <p:spPr>
          <a:xfrm>
            <a:off x="5623560" y="3026664"/>
            <a:ext cx="274320" cy="164592"/>
          </a:xfrm>
          <a:prstGeom prst="lef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246120" y="2788920"/>
            <a:ext cx="2286000" cy="640080"/>
          </a:xfrm>
          <a:prstGeom prst="roundRect">
            <a:avLst>
              <a:gd name="adj" fmla="val 8000"/>
            </a:avLst>
          </a:prstGeom>
          <a:solidFill>
            <a:srgbClr val="E8F4F5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00984" y="2788920"/>
            <a:ext cx="217627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0B1F3A"/>
                </a:solidFill>
                <a:latin typeface="微软雅黑"/>
                <a:ea typeface="微软雅黑"/>
              </a:rPr>
              <a:t>Analysis Agent
归因并给建议</a:t>
            </a:r>
          </a:p>
        </p:txBody>
      </p:sp>
      <p:sp>
        <p:nvSpPr>
          <p:cNvPr id="40" name="Left Arrow 39"/>
          <p:cNvSpPr/>
          <p:nvPr/>
        </p:nvSpPr>
        <p:spPr>
          <a:xfrm>
            <a:off x="2880360" y="3026664"/>
            <a:ext cx="274320" cy="164592"/>
          </a:xfrm>
          <a:prstGeom prst="lef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iamond 40"/>
          <p:cNvSpPr/>
          <p:nvPr/>
        </p:nvSpPr>
        <p:spPr>
          <a:xfrm>
            <a:off x="640080" y="2560320"/>
            <a:ext cx="2103120" cy="1097280"/>
          </a:xfrm>
          <a:prstGeom prst="diamond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2560320"/>
            <a:ext cx="210312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是用例问题
还是真 Bug?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1609344" y="3886200"/>
            <a:ext cx="164592" cy="274320"/>
          </a:xfrm>
          <a:prstGeom prst="down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1480" y="4251960"/>
            <a:ext cx="25603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344" y="4251960"/>
            <a:ext cx="2450592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用例问题 → 改 locator / 步骤
重新 validate &amp; run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3063240" y="4572000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429000" y="4251960"/>
            <a:ext cx="25603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83864" y="4251960"/>
            <a:ext cx="2450592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真 Bug → 提缺陷单
附截图 / Trace 证据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416052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0" y="4315968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A3A8"/>
                </a:solidFill>
                <a:latin typeface="微软雅黑"/>
                <a:ea typeface="微软雅黑"/>
              </a:rPr>
              <a:t>为什么这样切分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4681728"/>
            <a:ext cx="49377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AI 擅长「写」和「解释」，不擅长「保证」。
所以判定通过与否的是引擎和断言，不是模型；
AI 的产出必须先过 validate，才允许执行。
这样 AI 参与量可以放大，风险不会同比放大。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Git 是 Case 的真相源，Server 不是第二套 Git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分支即环境；Workspace 绑定多系统组合；历史 Run 可还原当时快照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19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71600"/>
            <a:ext cx="21488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1965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业务仓库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YAML Case
在 Git 里评审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92024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1371600"/>
            <a:ext cx="21488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1508760"/>
            <a:ext cx="1965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git push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01168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走正常代码
评审与保护分支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92024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371600"/>
            <a:ext cx="2148840" cy="17373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508760"/>
            <a:ext cx="1965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01168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validate +
sync-metadata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192024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19" y="1371600"/>
            <a:ext cx="2148840" cy="17373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59" y="1508760"/>
            <a:ext cx="1965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Server 索引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59" y="201168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快照同步
消失则标记 deleted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599" y="192024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1371600"/>
            <a:ext cx="21488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1508760"/>
            <a:ext cx="1965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控制台可见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01168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团队看 Index
与历史 Run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383280"/>
            <a:ext cx="57150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52044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A3A8"/>
                </a:solidFill>
                <a:latin typeface="微软雅黑"/>
                <a:ea typeface="微软雅黑"/>
              </a:rPr>
              <a:t>分支即测试环境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886200"/>
            <a:ext cx="5303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同一 Case 可同时存在于 main→TEST、release→STAGING。快照按分支作用域同步，互不影响。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383280"/>
            <a:ext cx="57150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52044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A3A8"/>
                </a:solidFill>
                <a:latin typeface="微软雅黑"/>
                <a:ea typeface="微软雅黑"/>
              </a:rPr>
              <a:t>Workspace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886200"/>
            <a:ext cx="5303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一次运行所需的多系统环境组合（小程序 + 后台 + API）。Case 只写 workspace 名称，不硬编码 URL/账号。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800600"/>
            <a:ext cx="57150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93776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A3A8"/>
                </a:solidFill>
                <a:latin typeface="微软雅黑"/>
                <a:ea typeface="微软雅黑"/>
              </a:rPr>
              <a:t>Run 可追溯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303520"/>
            <a:ext cx="5303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每次 Run 记录 branch / commit / workspace 运行时快照。环境后来改了，历史仍能还原。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4800600"/>
            <a:ext cx="57150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93776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A3A8"/>
                </a:solidFill>
                <a:latin typeface="微软雅黑"/>
                <a:ea typeface="微软雅黑"/>
              </a:rPr>
              <a:t>数据边界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303520"/>
            <a:ext cx="5303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SQLite 只存元数据。大文件（截图、视频、trace）留在业务项目磁盘。testpilot.yaml 仍是配置真相源。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项目结构：先看「谁调用谁」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上面是给人/AI 用的入口；中间是语言和引擎；下面才是真正碰端的 Adapter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20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80160"/>
            <a:ext cx="11430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53619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36192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417320"/>
            <a:ext cx="10332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入口层 apps +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810512"/>
            <a:ext cx="10332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cli 命令行 · server API · web 控制台 · agent 规划/分析 · skills 教 AI 怎么用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468880"/>
            <a:ext cx="11430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272491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24912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606040"/>
            <a:ext cx="10332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门面 SDK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999232"/>
            <a:ext cx="10332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@testpilot/sdk：所有入口只能走这里访问 Core。禁止 Server/Agent 直接碰引擎或 Playwright。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657600"/>
            <a:ext cx="11430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391363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13632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794760"/>
            <a:ext cx="10332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核心层 packages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187952"/>
            <a:ext cx="10332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dsl 说明书规则 · execution-engine 调度 · core 配置类型 · evidence 取证 · reporter 报告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846320"/>
            <a:ext cx="11430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510235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102352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983480"/>
            <a:ext cx="10332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驱动层 adapters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376672"/>
            <a:ext cx="10332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adapter-core 接口；playwright / wechatide / api 三种实现。扩 App 只加这一层。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apps/ 四个应用各自的功能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这是「产品形态」：命令行、服务、页面、AI 进程。它们都不自己实现点击页面。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21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80160"/>
            <a:ext cx="1143000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89888"/>
            <a:ext cx="110642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AA3A8"/>
                </a:solidFill>
                <a:latin typeface="微软雅黑"/>
                <a:ea typeface="微软雅黑"/>
              </a:rPr>
              <a:t>cli  （发布名 csspilot）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55648"/>
            <a:ext cx="11064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给人/CI 用的命令。init 把测试基建接入业务仓；validate 检查 YAML；run 执行；report 出报告；doctor 体检；sync-metadata 把 Case 索引同步到 Server。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514600"/>
            <a:ext cx="1143000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24328"/>
            <a:ext cx="110642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AA3A8"/>
                </a:solidFill>
                <a:latin typeface="微软雅黑"/>
                <a:ea typeface="微软雅黑"/>
              </a:rPr>
              <a:t>server  Control Plane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90088"/>
            <a:ext cx="11064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团队共享的 API：项目、Case 索引、Run、取消、产物、Agent Job、Workspace。SQLite 只存元数据。生产环境顺带托管 web 静态页。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749040"/>
            <a:ext cx="1143000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858768"/>
            <a:ext cx="110642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AA3A8"/>
                </a:solidFill>
                <a:latin typeface="微软雅黑"/>
                <a:ea typeface="微软雅黑"/>
              </a:rPr>
              <a:t>web  测试控制台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24528"/>
            <a:ext cx="11064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给人看的界面：项目概览、Case 列表、某次 Run 的每一步结果、截图/日志/Trace。不执行测试，只展示 Server 的数据。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83480"/>
            <a:ext cx="1143000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093208"/>
            <a:ext cx="110642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AA3A8"/>
                </a:solidFill>
                <a:latin typeface="微软雅黑"/>
                <a:ea typeface="微软雅黑"/>
              </a:rPr>
              <a:t>agent  TestPilot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458968"/>
            <a:ext cx="11064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Planner：按需求写 YAML 并 validate；Analysis：根据失败证据给建议。经 Skill → SDK 工作，YAML 写在业务项目磁盘，不直接写入 Server 索引。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packages/ 每个包的功能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这是「能力零件」。同事改业务 Case 不必动这里；平台扩端主要动 adapter-* 和 dsl 的 target 枚举。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22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261872"/>
            <a:ext cx="5760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53312"/>
            <a:ext cx="5440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A3A8"/>
                </a:solidFill>
                <a:latin typeface="微软雅黑"/>
                <a:ea typeface="微软雅黑"/>
              </a:rPr>
              <a:t>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19072"/>
            <a:ext cx="54406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公共类型、错误码、testpilot.yaml 配置模型。大家说的「一次 Run / 一步结果」长什么样，在这里定。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61872"/>
            <a:ext cx="5760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353312"/>
            <a:ext cx="5440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A3A8"/>
                </a:solidFill>
                <a:latin typeface="微软雅黑"/>
                <a:ea typeface="微软雅黑"/>
              </a:rPr>
              <a:t>dsl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719072"/>
            <a:ext cx="54406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Case 的语法：YAML 解析 + zod schema。决定哪些字段合法、target/action 有哪些。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2496312"/>
            <a:ext cx="5760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587752"/>
            <a:ext cx="5440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A3A8"/>
                </a:solidFill>
                <a:latin typeface="微软雅黑"/>
                <a:ea typeface="微软雅黑"/>
              </a:rPr>
              <a:t>execution-engine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953512"/>
            <a:ext cx="54406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真正跑步骤：解析变量、调 Resolver 拿会话、发 NDJSON 事件、收集结果、管理产物目录。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496312"/>
            <a:ext cx="5760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587752"/>
            <a:ext cx="5440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A3A8"/>
                </a:solidFill>
                <a:latin typeface="微软雅黑"/>
                <a:ea typeface="微软雅黑"/>
              </a:rPr>
              <a:t>adapter-core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953512"/>
            <a:ext cx="54406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TestAdapter 接口 + 会话。所有端必须实现同一套方法，引擎才认。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3730752"/>
            <a:ext cx="5760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822192"/>
            <a:ext cx="5440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A3A8"/>
                </a:solidFill>
                <a:latin typeface="微软雅黑"/>
                <a:ea typeface="微软雅黑"/>
              </a:rPr>
              <a:t>adapter-playwright / wechatide /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187952"/>
            <a:ext cx="54406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三个具体翻译官。分别把原语变成浏览器操作、小程序操作、HTTP 请求。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730752"/>
            <a:ext cx="5760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822192"/>
            <a:ext cx="5440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A3A8"/>
                </a:solidFill>
                <a:latin typeface="微软雅黑"/>
                <a:ea typeface="微软雅黑"/>
              </a:rPr>
              <a:t>sdk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187952"/>
            <a:ext cx="54406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给 cli/server/agent 的统一编程入口：跑用例、取消、读报告。保证三条入口行为一致。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4965192"/>
            <a:ext cx="5760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056632"/>
            <a:ext cx="5440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A3A8"/>
                </a:solidFill>
                <a:latin typeface="微软雅黑"/>
                <a:ea typeface="微软雅黑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422392"/>
            <a:ext cx="54406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截图、视频、trace、日志怎么落盘。证据在业务项目 .testpilot/artifacts/，不进 Git。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965192"/>
            <a:ext cx="5760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5056632"/>
            <a:ext cx="5440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A3A8"/>
                </a:solidFill>
                <a:latin typeface="微软雅黑"/>
                <a:ea typeface="微软雅黑"/>
              </a:rPr>
              <a:t>reporter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422392"/>
            <a:ext cx="54406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把一次 Run 收成 JSON + HTML 报告，供本地打开或控制台展示。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怎样做成的：先 Core，再控制面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V0.1 明确先跑通跨端黄金 Case，再加 Dashboard / Agent，避免空中楼阁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23  / 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Core 先行（必须可本地闭环）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增量控制面（不推翻 Core）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37360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38528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A3A8"/>
                </a:solidFill>
                <a:latin typeface="微软雅黑"/>
                <a:ea typeface="微软雅黑"/>
              </a:rPr>
              <a:t>Phase 1–2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1938528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骨架 + CLI 六命令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06040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07208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A3A8"/>
                </a:solidFill>
                <a:latin typeface="微软雅黑"/>
                <a:ea typeface="微软雅黑"/>
              </a:rPr>
              <a:t>Phase 3–4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807208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DSL + Execution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74720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75888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A3A8"/>
                </a:solidFill>
                <a:latin typeface="微软雅黑"/>
                <a:ea typeface="微软雅黑"/>
              </a:rPr>
              <a:t>Phase 5–6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675888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Playwright / WeChatIDE Adapter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43399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44567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A3A8"/>
                </a:solidFill>
                <a:latin typeface="微软雅黑"/>
                <a:ea typeface="微软雅黑"/>
              </a:rPr>
              <a:t>Phase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544567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跨端黄金 Case 真机验证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212080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413248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A3A8"/>
                </a:solidFill>
                <a:latin typeface="微软雅黑"/>
                <a:ea typeface="微软雅黑"/>
              </a:rPr>
              <a:t>Phase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413248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Skill 与实现对齐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173736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938528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9A227"/>
                </a:solidFill>
                <a:latin typeface="微软雅黑"/>
                <a:ea typeface="微软雅黑"/>
              </a:rPr>
              <a:t>Phase 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1938528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SDK，CLI 统一走 SDK；Run 可取消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260604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807208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9A227"/>
                </a:solidFill>
                <a:latin typeface="微软雅黑"/>
                <a:ea typeface="微软雅黑"/>
              </a:rPr>
              <a:t>Phase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2807208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Backend + Git 元数据快照同步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47472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675888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9A227"/>
                </a:solidFill>
                <a:latin typeface="微软雅黑"/>
                <a:ea typeface="微软雅黑"/>
              </a:rPr>
              <a:t>Phase 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3675888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Web 控制台（Step 级证据）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343399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544567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9A227"/>
                </a:solidFill>
                <a:latin typeface="微软雅黑"/>
                <a:ea typeface="微软雅黑"/>
              </a:rPr>
              <a:t>Phase 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4544567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Agent：写 Case + 失败分析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521208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5413248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9A227"/>
                </a:solidFill>
                <a:latin typeface="微软雅黑"/>
                <a:ea typeface="微软雅黑"/>
              </a:rPr>
              <a:t>发布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5413248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csspilot npm；init 把 Skill 装进业务项目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设计优点：给领导和协作方的清单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每一条都能对应到代码边界，而不是口号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24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325880"/>
            <a:ext cx="28346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25880"/>
            <a:ext cx="2834640" cy="73152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微软雅黑"/>
                <a:ea typeface="微软雅黑"/>
              </a:rPr>
              <a:t>对业务团队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40280"/>
            <a:ext cx="2560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一条 YAML 覆盖多端流程；Case 跟代码一起评审；不绑定某个人的 IDE 脚本。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325880"/>
            <a:ext cx="28346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325880"/>
            <a:ext cx="2834640" cy="73152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55448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微软雅黑"/>
                <a:ea typeface="微软雅黑"/>
              </a:rPr>
              <a:t>对 AI 研发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240280"/>
            <a:ext cx="2560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Skill 规定「只能写 DSL、必须先取证」；生成物可 validate，能进 CI，而不是一次性点点点。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325880"/>
            <a:ext cx="28346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325880"/>
            <a:ext cx="2834640" cy="73152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5448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微软雅黑"/>
                <a:ea typeface="微软雅黑"/>
              </a:rPr>
              <a:t>对平台演进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240280"/>
            <a:ext cx="2560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新端 = 新 Adapter。引擎、报告、控制台、Skill 工作流可复用。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325880"/>
            <a:ext cx="28346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1325880"/>
            <a:ext cx="2834640" cy="73152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155448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微软雅黑"/>
                <a:ea typeface="微软雅黑"/>
              </a:rPr>
              <a:t>对质量治理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240280"/>
            <a:ext cx="2560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Evidence-first + Step 级报告 + 取消与跳过语义清晰，失败可定位。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3794760"/>
            <a:ext cx="28346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794760"/>
            <a:ext cx="283464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02336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微软雅黑"/>
                <a:ea typeface="微软雅黑"/>
              </a:rPr>
              <a:t>对安全与合规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709160"/>
            <a:ext cx="2560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凭据走环境变量 / Secret；HTTP 头脱敏；Case 里禁止写密码。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3794760"/>
            <a:ext cx="28346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91840" y="3794760"/>
            <a:ext cx="283464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402336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微软雅黑"/>
                <a:ea typeface="微软雅黑"/>
              </a:rPr>
              <a:t>对接入成本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709160"/>
            <a:ext cx="2560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npx csspilot init 幂等接入；不覆盖已有测试；doctor 分组体检。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794760"/>
            <a:ext cx="28346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3794760"/>
            <a:ext cx="283464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02336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微软雅黑"/>
                <a:ea typeface="微软雅黑"/>
              </a:rPr>
              <a:t>对部署形态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709160"/>
            <a:ext cx="2560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个人只跑 CLI 即可；团队加一个 Server 进程托管控制台，SQLite 起步。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35440" y="3794760"/>
            <a:ext cx="28346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35440" y="3794760"/>
            <a:ext cx="283464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402336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微软雅黑"/>
                <a:ea typeface="微软雅黑"/>
              </a:rPr>
              <a:t>对长期所有权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709160"/>
            <a:ext cx="2560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业务 Case 留在业务仓。换测试平台时，YAML 资产仍可读、可迁移。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是否跟随趋势？跟随什么，刻意不跟什么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对齐行业方向，但拒绝把 Demo 能力写进 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25  / 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5B677A"/>
                </a:solidFill>
                <a:latin typeface="微软雅黑"/>
                <a:ea typeface="微软雅黑"/>
              </a:rPr>
              <a:t>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23444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5B677A"/>
                </a:solidFill>
                <a:latin typeface="微软雅黑"/>
                <a:ea typeface="微软雅黑"/>
              </a:rPr>
              <a:t>态度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2344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5B677A"/>
                </a:solidFill>
                <a:latin typeface="微软雅黑"/>
                <a:ea typeface="微软雅黑"/>
              </a:rPr>
              <a:t>说明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554480"/>
            <a:ext cx="114300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719072"/>
            <a:ext cx="2194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AI Native 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1719072"/>
            <a:ext cx="1463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A3A8"/>
                </a:solidFill>
                <a:latin typeface="微软雅黑"/>
                <a:ea typeface="微软雅黑"/>
              </a:rPr>
              <a:t>跟随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64208"/>
            <a:ext cx="7223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不是「用 AI 点页面」，而是给 AI 可校验的语言、规范与工具链（Skill + DSL + validate）。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331720"/>
            <a:ext cx="114300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96312"/>
            <a:ext cx="2194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平台工程 / 内部开发者平台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496312"/>
            <a:ext cx="1463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A3A8"/>
                </a:solidFill>
                <a:latin typeface="微软雅黑"/>
                <a:ea typeface="微软雅黑"/>
              </a:rPr>
              <a:t>跟随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441448"/>
            <a:ext cx="7223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测试能力产品化：init 接入、doctor、CI 模板、控制台，而不是每个组自建脚本。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108960"/>
            <a:ext cx="114300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73552"/>
            <a:ext cx="2194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GitOps 式资产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273552"/>
            <a:ext cx="1463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A3A8"/>
                </a:solidFill>
                <a:latin typeface="微软雅黑"/>
                <a:ea typeface="微软雅黑"/>
              </a:rPr>
              <a:t>跟随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218688"/>
            <a:ext cx="7223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Case 以 Git 为 SoT；push 后才进团队索引。与 IaC / 配置即代码同一治理逻辑。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886200"/>
            <a:ext cx="114300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050792"/>
            <a:ext cx="2194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可插拔驱动（Adapter）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4050792"/>
            <a:ext cx="1463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A3A8"/>
                </a:solidFill>
                <a:latin typeface="微软雅黑"/>
                <a:ea typeface="微软雅黑"/>
              </a:rPr>
              <a:t>跟随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995928"/>
            <a:ext cx="7223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与浏览器自动化、Appium、多端 RPA 的分层一致：协议层稳定，驱动可换。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663440"/>
            <a:ext cx="114300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828032"/>
            <a:ext cx="2194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全自动修 bug / RAG 知识库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4828032"/>
            <a:ext cx="1463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9A227"/>
                </a:solidFill>
                <a:latin typeface="微软雅黑"/>
                <a:ea typeface="微软雅黑"/>
              </a:rPr>
              <a:t>不跟（V0.1）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773168"/>
            <a:ext cx="7223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未经验证的自动修复会污染仓库。先保证生成可跑、失败可解释。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440680"/>
            <a:ext cx="114300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605272"/>
            <a:ext cx="2194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把业务封装成平台 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5605272"/>
            <a:ext cx="1463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4B3A"/>
                </a:solidFill>
                <a:latin typeface="微软雅黑"/>
                <a:ea typeface="微软雅黑"/>
              </a:rPr>
              <a:t>明确反对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550408"/>
            <a:ext cx="7223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Login/Order 进 Core 会让工具绑死业务。趋势是「领域用例在业务侧组合原语」。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V0.1 已经能做什么（基于仓库现状）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不是规划图：跨端黄金路径与控制面均已落地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26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5715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618488"/>
            <a:ext cx="960120" cy="45720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618488"/>
            <a:ext cx="9601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已通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600200"/>
            <a:ext cx="4160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Web（Playwright）九个 UI Action + 取证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25880"/>
            <a:ext cx="5715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1618488"/>
            <a:ext cx="960120" cy="45720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18488"/>
            <a:ext cx="9601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已通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600200"/>
            <a:ext cx="4160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小程序（WeChatIDE / automator）真机验证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514600"/>
            <a:ext cx="5715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2807208"/>
            <a:ext cx="960120" cy="45720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807208"/>
            <a:ext cx="9601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已通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788920"/>
            <a:ext cx="4160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API target：request / 响应断言与抽取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514600"/>
            <a:ext cx="5715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2240" y="2807208"/>
            <a:ext cx="960120" cy="45720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807208"/>
            <a:ext cx="9601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已通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788920"/>
            <a:ext cx="4160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跨端变量：小程序 extract → Web assert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703320"/>
            <a:ext cx="5715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" y="3995928"/>
            <a:ext cx="960120" cy="45720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995928"/>
            <a:ext cx="9601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已通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3977640"/>
            <a:ext cx="4160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CLI 全命令 + doctor / CI 模板 / npm 发布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703320"/>
            <a:ext cx="5715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92240" y="3995928"/>
            <a:ext cx="960120" cy="45720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995928"/>
            <a:ext cx="9601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已通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3977640"/>
            <a:ext cx="4160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控制台：Case Index、Run、截图/Trace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4892040"/>
            <a:ext cx="5715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94360" y="5184648"/>
            <a:ext cx="960120" cy="45720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184648"/>
            <a:ext cx="9601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已通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5166360"/>
            <a:ext cx="4160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Agent 写 YAML + 失败分析（经 Skill/SDK）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892040"/>
            <a:ext cx="5715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92240" y="5184648"/>
            <a:ext cx="960120" cy="4572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5184648"/>
            <a:ext cx="9601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边界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5166360"/>
            <a:ext cx="4160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不做多用户权限、不做业务 Skill、不做自动修代码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以后如何延展到 App、iPad 和其它端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稳定的是「测试模型」；变化的是「怎么驱动那块屏幕」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27  / 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A"/>
                </a:solidFill>
                <a:latin typeface="微软雅黑"/>
                <a:ea typeface="微软雅黑"/>
              </a:rPr>
              <a:t>推荐节奏：先协议，再驱动，最后才改 Skill 示例。不要先买一套新的 App 测试平台另起炉灶。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783080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83080"/>
            <a:ext cx="2743200" cy="91440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现在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68880"/>
            <a:ext cx="24688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web / miniapp / api
同一 Case 可混排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783080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783080"/>
            <a:ext cx="274320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01168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227"/>
                </a:solidFill>
                <a:latin typeface="微软雅黑"/>
                <a:ea typeface="微软雅黑"/>
              </a:rPr>
              <a:t>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468880"/>
            <a:ext cx="24688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App（Android / iOS）
实现 TestAdapter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783080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783080"/>
            <a:ext cx="2743200" cy="91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01168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68880"/>
            <a:ext cx="24688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iPad / 折叠屏
多窗口与尺寸策略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783080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1783080"/>
            <a:ext cx="2743200" cy="91440"/>
          </a:xfrm>
          <a:prstGeom prst="rect">
            <a:avLst/>
          </a:prstGeom>
          <a:solidFill>
            <a:srgbClr val="5B6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01168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5B677A"/>
                </a:solidFill>
                <a:latin typeface="微软雅黑"/>
                <a:ea typeface="微软雅黑"/>
              </a:rPr>
              <a:t>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468880"/>
            <a:ext cx="24688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微软雅黑"/>
                <a:ea typeface="微软雅黑"/>
              </a:rPr>
              <a:t>桌面端 / 车机 / 鸿蒙
仍是 target + Adapter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160520"/>
            <a:ext cx="11338560" cy="210312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3434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AA3A8"/>
                </a:solidFill>
                <a:latin typeface="微软雅黑"/>
                <a:ea typeface="微软雅黑"/>
              </a:rPr>
              <a:t>不变的五件套（扩端时禁止拆掉）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0060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1) YAML Case 与十个（或少量扩展的）原语    2) Execution Engine 与 Context 跨端传值
3) Evidence / Reporter    4) Skill「禁止直连驱动」    5) SDK 作为唯一编程入口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扩到 App / iPad：建议工程步骤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工作量在 Adapter 与定位策略，不在重写控制台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28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61872"/>
            <a:ext cx="113385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0817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08176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335024"/>
            <a:ext cx="29260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1. 定 target 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371600"/>
            <a:ext cx="7406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DSL 的 STEP_TARGETS 增加 app / ipad（或 ios、android）。一步只表达一个端，避免「mobile」大锅烩。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084832"/>
            <a:ext cx="113385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223113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231136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157984"/>
            <a:ext cx="29260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2. 实现 TestAdapter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194560"/>
            <a:ext cx="7406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新包 packages/adapter-app。把 click/input/assert 映射到底层：Appium、Maestro、Playwright Mobile、厂商私有工具皆可。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907792"/>
            <a:ext cx="113385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05409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054096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2980944"/>
            <a:ext cx="29260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3. 注册 Resolver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017520"/>
            <a:ext cx="7406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引擎按 target 创建会话。一条 Case 仍可：app 下单 → extract → web 后台 assert。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730752"/>
            <a:ext cx="113385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387705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877056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803904"/>
            <a:ext cx="29260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4. Locator 策略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840480"/>
            <a:ext cx="7406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小程序已限制 css；App 可能要 accessibility id / 文案。在 Skill locator 规则里写清，禁止 AI 瞎编。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553712"/>
            <a:ext cx="113385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470001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700016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626864"/>
            <a:ext cx="29260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5. 设备与环境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663440"/>
            <a:ext cx="7406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testpilot.yaml 增加 app 段（包名、设备、Appium Server）。Workspace 绑「测试包 + 后台环境」。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5376672"/>
            <a:ext cx="113385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" y="552297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522976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449824"/>
            <a:ext cx="29260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6. 证据与 Skill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5486400"/>
            <a:ext cx="7406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截图必做；系统弹窗/权限作为 wait/assert。Skill 增加 app 工作流，仍禁止直连 Appium。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流程图 ⑤　接入一个新端（App / iPad）的决策与工序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左边是一次性的平台工作；右边是业务同事的日常，几乎不变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29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69494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6492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平台组：一次性接入（估算以 Adapter 为主）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737360"/>
            <a:ext cx="2834640" cy="502920"/>
          </a:xfrm>
          <a:prstGeom prst="roundRect">
            <a:avLst>
              <a:gd name="adj" fmla="val 8000"/>
            </a:avLst>
          </a:prstGeom>
          <a:solidFill>
            <a:srgbClr val="E8F4F5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1737360"/>
            <a:ext cx="2724912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确定端与 target 名：app / ipad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975104" y="2267712"/>
            <a:ext cx="164592" cy="182880"/>
          </a:xfrm>
          <a:prstGeom prst="down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868680" y="2487168"/>
            <a:ext cx="2377440" cy="868680"/>
          </a:xfrm>
          <a:prstGeom prst="diamond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487168"/>
            <a:ext cx="237744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已有可用驱动?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337560" y="2843784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2487168"/>
            <a:ext cx="329184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/>
                <a:ea typeface="微软雅黑"/>
              </a:rPr>
              <a:t>否 → 先做驱动选型（Appium / Maestro /
厂商工具 / 设备云），产出一个能点通
登录页的最小样例再开工。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975104" y="3383280"/>
            <a:ext cx="164592" cy="182880"/>
          </a:xfrm>
          <a:prstGeom prst="down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3401568"/>
            <a:ext cx="6400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1AA3A8"/>
                </a:solidFill>
                <a:latin typeface="微软雅黑"/>
                <a:ea typeface="微软雅黑"/>
              </a:rPr>
              <a:t>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39312"/>
            <a:ext cx="6400800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3639312"/>
            <a:ext cx="6291072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实现 TestAdapter（packages/adapter-app）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3758184" y="4050792"/>
            <a:ext cx="146304" cy="82296"/>
          </a:xfrm>
          <a:prstGeom prst="down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142232"/>
            <a:ext cx="6400800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142232"/>
            <a:ext cx="6291072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在 DSL 增加 target 枚举 + 注册 Resolver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3758184" y="4553712"/>
            <a:ext cx="146304" cy="82296"/>
          </a:xfrm>
          <a:prstGeom prst="down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645152"/>
            <a:ext cx="6400800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645152"/>
            <a:ext cx="6291072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定 Locator 策略并写进 Skill 规则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3758184" y="5056632"/>
            <a:ext cx="146304" cy="82296"/>
          </a:xfrm>
          <a:prstGeom prst="down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5148072"/>
            <a:ext cx="6400800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148072"/>
            <a:ext cx="6291072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testpilot.yaml 增加设备/包配置与 Workspace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3758184" y="5559552"/>
            <a:ext cx="146304" cy="82296"/>
          </a:xfrm>
          <a:prstGeom prst="down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5650992"/>
            <a:ext cx="6400800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" y="5650992"/>
            <a:ext cx="6291072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补 Evidence（截图必做）+ 一条黄金 Case 验收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43800" y="1234440"/>
            <a:ext cx="4251960" cy="50292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1371600"/>
            <a:ext cx="3840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A3A8"/>
                </a:solidFill>
                <a:latin typeface="微软雅黑"/>
                <a:ea typeface="微软雅黑"/>
              </a:rPr>
              <a:t>业务同事：几乎不用改习惯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1828800"/>
            <a:ext cx="3840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✓  仍然写 YAML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2148840"/>
            <a:ext cx="3566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只是多了 target: app 这一种取值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2697480"/>
            <a:ext cx="3840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✓  仍然 validate / run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3017520"/>
            <a:ext cx="3566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命令、报告、控制台都不变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566160"/>
            <a:ext cx="3840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✓  仍然一条 Case 跨端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3886200"/>
            <a:ext cx="3566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app 下单 → web 后台 assert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434839"/>
            <a:ext cx="3840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✓  存量用例不作废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4754879"/>
            <a:ext cx="3566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web / miniapp 的 Case 继续跑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5303520"/>
            <a:ext cx="3840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✓  Skill 规则同步更新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5623560"/>
            <a:ext cx="3566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AI 照样只能写 DSL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App 与 iPad 不要当成「同一个手机端」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屏幕、输入、多窗口会逼出 Adapter 的可选能力，而不是新 DSL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30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57150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00200"/>
            <a:ext cx="5303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iPhone / Android 手机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48840"/>
            <a:ext cx="5303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单窗口、手势（滑动/长按）可能要作为 Action 扩展或用现有 click+wait 组合。先覆盖核心路径，手势作为第二批原语。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7150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00200"/>
            <a:ext cx="5303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iPad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48840"/>
            <a:ext cx="5303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分屏、Stage Manager、键盘外设。建议 target: ipad 独立，便于 Case 声明「仅大屏」。viewport 策略放配置，不写进步骤。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749040"/>
            <a:ext cx="57150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40"/>
            <a:ext cx="5303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混合技术栈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5303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原生 / Flutter / RN / H5 容器。Adapter 可对 H5 复用 Playwright webview，对原生走自动化树。对 DSL 仍是 click/assert。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749040"/>
            <a:ext cx="57150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977640"/>
            <a:ext cx="5303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A3A8"/>
                </a:solidFill>
                <a:latin typeface="微软雅黑"/>
                <a:ea typeface="微软雅黑"/>
              </a:rPr>
              <a:t>真机农场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526280"/>
            <a:ext cx="5303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设备云是 Adapter 后面的基础设施（类似今天的微信开发者工具）。Control Plane 只记录哪次 Run 用了哪台设备快照。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V0.1 明确不做：避免期望错位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范围克制是优点。下列需求应另立项，而不是塞进 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31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57150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5303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2332"/>
                </a:solidFill>
                <a:latin typeface="微软雅黑"/>
                <a:ea typeface="微软雅黑"/>
              </a:rPr>
              <a:t>✕   RAG 知识库、从文档自动生成全部回归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57150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45920"/>
            <a:ext cx="5303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2332"/>
                </a:solidFill>
                <a:latin typeface="微软雅黑"/>
                <a:ea typeface="微软雅黑"/>
              </a:rPr>
              <a:t>✕   AI 自动改业务代码 / 自动修测试直到绿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514600"/>
            <a:ext cx="57150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88920"/>
            <a:ext cx="5303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2332"/>
                </a:solidFill>
                <a:latin typeface="微软雅黑"/>
                <a:ea typeface="微软雅黑"/>
              </a:rPr>
              <a:t>✕   性能基线、业务数据基线、全链路监控替代品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514600"/>
            <a:ext cx="57150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788920"/>
            <a:ext cx="5303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2332"/>
                </a:solidFill>
                <a:latin typeface="微软雅黑"/>
                <a:ea typeface="微软雅黑"/>
              </a:rPr>
              <a:t>✕   SQL/MySQL Adapter、把校验做成随意跑库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657600"/>
            <a:ext cx="57150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5303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2332"/>
                </a:solidFill>
                <a:latin typeface="微软雅黑"/>
                <a:ea typeface="微软雅黑"/>
              </a:rPr>
              <a:t>✕   业务 Skill（Login / Order / Payment）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57600"/>
            <a:ext cx="57150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931920"/>
            <a:ext cx="5303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2332"/>
                </a:solidFill>
                <a:latin typeface="微软雅黑"/>
                <a:ea typeface="微软雅黑"/>
              </a:rPr>
              <a:t>✕   Dashboard 高级 IDE、可视化拖拽生成巨页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800600"/>
            <a:ext cx="57150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5303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2332"/>
                </a:solidFill>
                <a:latin typeface="微软雅黑"/>
                <a:ea typeface="微软雅黑"/>
              </a:rPr>
              <a:t>✕   Multi-Agent 分工编排、复杂任务调度器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800600"/>
            <a:ext cx="57150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5074920"/>
            <a:ext cx="5303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2332"/>
                </a:solidFill>
                <a:latin typeface="微软雅黑"/>
                <a:ea typeface="微软雅黑"/>
              </a:rPr>
              <a:t>✕   多用户权限系统、完整 SaaS 化账号体系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流程图 ④　npx csspilot init 在业务项目里做了什么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全程幂等：已有文件一律保留，不动 .env、不动已有用例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32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1208" y="143560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43560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435608"/>
            <a:ext cx="19202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识别项目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901952"/>
            <a:ext cx="23774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名称 / 类型 / 语言
包管理器 / Git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63240" y="1929384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37560" y="13258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47288" y="143560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8" y="143560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1435608"/>
            <a:ext cx="19202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检测 Adapter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1901952"/>
            <a:ext cx="23774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Playwright、微信开发者工具
缺失只告警，不阻塞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89320" y="1929384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13258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73368" y="143560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143560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435608"/>
            <a:ext cx="19202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生成配置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901952"/>
            <a:ext cx="23774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testpilot.yaml
.testpilot/project.json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915400" y="1929384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89720" y="13258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99448" y="143560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9448" y="143560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1435608"/>
            <a:ext cx="19202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准备测试目录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1901952"/>
            <a:ext cx="23774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tests/e2e/{cases,fixtures,data}
已存在则直接复用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10881360" y="2743200"/>
            <a:ext cx="164592" cy="256032"/>
          </a:xfrm>
          <a:prstGeom prst="down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2761488"/>
            <a:ext cx="20116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1AA3A8"/>
                </a:solidFill>
                <a:latin typeface="微软雅黑"/>
                <a:ea typeface="微软雅黑"/>
              </a:rPr>
              <a:t>接着装 AI 接入物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31546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21208" y="326440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" y="326440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3264408"/>
            <a:ext cx="19202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安装 Skill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730752"/>
            <a:ext cx="23774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.agents/skills/testpilot/
+ references 项目上下文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063240" y="3758184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337560" y="31546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447288" y="326440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47288" y="326440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3264408"/>
            <a:ext cx="19202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环境样例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3730752"/>
            <a:ext cx="23774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.env.example
.gitignore 忽略 .env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5989320" y="3758184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63640" y="31546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73368" y="326440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3368" y="326440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3264408"/>
            <a:ext cx="19202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CI 提示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3730752"/>
            <a:ext cx="23774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检测已有 CI
可用 ci init 生成模板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8915400" y="3758184"/>
            <a:ext cx="274320" cy="164592"/>
          </a:xfrm>
          <a:prstGeom prst="rightArrow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9720" y="31546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299448" y="326440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99448" y="326440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84080" y="3264408"/>
            <a:ext cx="19202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自动 doctor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0" y="3730752"/>
            <a:ext cx="23774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体检并分组报告
error / warning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1480" y="4754880"/>
            <a:ext cx="55778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489204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A3A8"/>
                </a:solidFill>
                <a:latin typeface="微软雅黑"/>
                <a:ea typeface="微软雅黑"/>
              </a:rPr>
              <a:t>init 之后业务项目多了什么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5257800"/>
            <a:ext cx="512064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A"/>
                </a:solidFill>
                <a:latin typeface="微软雅黑"/>
                <a:ea typeface="微软雅黑"/>
              </a:rPr>
              <a:t>testpilot.yaml  ·  .testpilot/  ·  tests/e2e/cases/
.agents/skills/testpilot/  ·  .env.example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4754880"/>
            <a:ext cx="5577840" cy="15087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46520" y="489204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9A227"/>
                </a:solidFill>
                <a:latin typeface="微软雅黑"/>
                <a:ea typeface="微软雅黑"/>
              </a:rPr>
              <a:t>绝不触碰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6520" y="5257800"/>
            <a:ext cx="512064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.env 真实凭据  ·  已有用例  ·  已有 CI 配置
升级用 csspilot update，只同步接入物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同事明天可以怎么用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ED4D6"/>
                </a:solidFill>
                <a:latin typeface="微软雅黑"/>
                <a:ea typeface="微软雅黑"/>
              </a:rPr>
              <a:t>最小路径：接入 → 写/生成一条 Case → validate → run → 看报告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A8C5C8"/>
                </a:solidFill>
                <a:latin typeface="微软雅黑"/>
                <a:ea typeface="微软雅黑"/>
              </a:rPr>
              <a:t>TestPilot  ·  AI Native 跨端业务测试基础设施  ·  内部介绍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601968"/>
            <a:ext cx="15544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33  /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371600"/>
            <a:ext cx="22402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15544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55448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33172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接入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834640"/>
            <a:ext cx="20116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在业务仓执行 npx csspilot init
生成 Skill、testpilot.yaml、tests/e2e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79192" y="1371600"/>
            <a:ext cx="22402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56432" y="15544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432" y="155448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33172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约定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834640"/>
            <a:ext cx="20116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读 references/ 与 Skill 规则
定位器必须有页面证据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38344" y="1371600"/>
            <a:ext cx="22402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815584" y="15544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5584" y="155448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72" y="233172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编写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72" y="2834640"/>
            <a:ext cx="20116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人写 YAML，或让 Agent 按工作流生成
禁止让 AI 直接操作浏览器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97496" y="1371600"/>
            <a:ext cx="22402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74736" y="15544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155448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7224" y="233172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校验执行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7224" y="2834640"/>
            <a:ext cx="20116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csspilot validate &amp;&amp; run
CI 里再加 sync-metadata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56648" y="1371600"/>
            <a:ext cx="22402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533888" y="15544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33888" y="155448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66376" y="233172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看见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66376" y="2834640"/>
            <a:ext cx="20116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77A"/>
                </a:solidFill>
                <a:latin typeface="微软雅黑"/>
                <a:ea typeface="微软雅黑"/>
              </a:rPr>
              <a:t>本地 HTML 报告，或打开控制台
看 Step、截图、失败原因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" y="4754880"/>
            <a:ext cx="11521440" cy="15087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937760"/>
            <a:ext cx="11064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A3A8"/>
                </a:solidFill>
                <a:latin typeface="微软雅黑"/>
                <a:ea typeface="微软雅黑"/>
              </a:rPr>
              <a:t>给负责人的投入建议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先选 1 条跨端黄金路径（已有小程序下单→后台核验范式）在真实业务仓落地；同时约定「AI 只准写 DSL」。App/iPad 等有设备与驱动选型后再开 Adapter 专项，不必阻塞当前 Web/小程序收益。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A3A8"/>
                </a:solidFill>
                <a:latin typeface="微软雅黑"/>
                <a:ea typeface="微软雅黑"/>
              </a:rPr>
              <a:t>带走的四句话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65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A3A8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332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FFFFFF"/>
                </a:solidFill>
                <a:latin typeface="微软雅黑"/>
                <a:ea typeface="微软雅黑"/>
              </a:rPr>
              <a:t>DSL 是 YAML 测试说明书；Adapter 是把它翻译成真实点击/请求的插件。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365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A3A8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23160"/>
            <a:ext cx="10332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FFFFFF"/>
                </a:solidFill>
                <a:latin typeface="微软雅黑"/>
                <a:ea typeface="微软雅黑"/>
              </a:rPr>
              <a:t>仓库分层：入口（cli/web/agent）→ SDK → 引擎/DSL → Adapter。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365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A3A8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63240"/>
            <a:ext cx="10332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FFFFFF"/>
                </a:solidFill>
                <a:latin typeface="微软雅黑"/>
                <a:ea typeface="微软雅黑"/>
              </a:rPr>
              <a:t>人和 AI 只写 DSL；真正碰端的只有 Adapter。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19"/>
            <a:ext cx="365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A3A8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703319"/>
            <a:ext cx="10332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FFFFFF"/>
                </a:solidFill>
                <a:latin typeface="微软雅黑"/>
                <a:ea typeface="微软雅黑"/>
              </a:rPr>
              <a:t>App / iPad 是新 Adapter + 新 target，不是新测试平台。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AA0B8"/>
                </a:solidFill>
                <a:latin typeface="微软雅黑"/>
                <a:ea typeface="微软雅黑"/>
              </a:rPr>
              <a:t>讨论  ·  文档见 docs/architecture.md 与 README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Q  &amp; 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